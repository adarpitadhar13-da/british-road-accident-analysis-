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Year-on-year change, 2022 vs 2021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 shown on dashboard</c:v>
                </c:pt>
              </c:strCache>
            </c:strRef>
          </c:tx>
          <c:spPr>
            <a:solidFill>
              <a:srgbClr val="1C243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 casualties</c:v>
                  </c:pt>
                  <c:pt idx="1">
                    <c:v>Total accidents</c:v>
                  </c:pt>
                  <c:pt idx="2">
                    <c:v>Fatal casualties*</c:v>
                  </c:pt>
                  <c:pt idx="3">
                    <c:v>Serious casualties</c:v>
                  </c:pt>
                  <c:pt idx="4">
                    <c:v>Slight casualties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-11.9</c:v>
                </c:pt>
                <c:pt idx="1">
                  <c:v>-11.7</c:v>
                </c:pt>
                <c:pt idx="2">
                  <c:v>-33.3</c:v>
                </c:pt>
                <c:pt idx="3">
                  <c:v>-16.2</c:v>
                </c:pt>
                <c:pt idx="4">
                  <c:v>-10.6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 (excl. 8 Scottish forces)</c:v>
                </c:pt>
              </c:strCache>
            </c:strRef>
          </c:tx>
          <c:spPr>
            <a:solidFill>
              <a:srgbClr val="9DBF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 casualties</c:v>
                  </c:pt>
                  <c:pt idx="1">
                    <c:v>Total accidents</c:v>
                  </c:pt>
                  <c:pt idx="2">
                    <c:v>Fatal casualties*</c:v>
                  </c:pt>
                  <c:pt idx="3">
                    <c:v>Serious casualties</c:v>
                  </c:pt>
                  <c:pt idx="4">
                    <c:v>Slight casualties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-5.7</c:v>
                </c:pt>
                <c:pt idx="1">
                  <c:v>-5.2</c:v>
                </c:pt>
                <c:pt idx="2">
                  <c:v>-27.5</c:v>
                </c:pt>
                <c:pt idx="3">
                  <c:v>-8.1</c:v>
                </c:pt>
                <c:pt idx="4">
                  <c:v>-4.8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40"/>
        </c:scaling>
        <c:delete val="0"/>
        <c:axPos val="b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Casualties by vehicle group, like-for-like YoY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Like-for-like YoY</c:v>
                </c:pt>
              </c:strCache>
            </c:strRef>
          </c:tx>
          <c:spPr>
            <a:solidFill>
              <a:srgbClr val="9DBFDD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Car</c:v>
                  </c:pt>
                  <c:pt idx="1">
                    <c:v>Van</c:v>
                  </c:pt>
                  <c:pt idx="2">
                    <c:v>Bike</c:v>
                  </c:pt>
                  <c:pt idx="3">
                    <c:v>Bus</c:v>
                  </c:pt>
                  <c:pt idx="4">
                    <c:v>Other</c:v>
                  </c:pt>
                  <c:pt idx="5">
                    <c:v>Agricultural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-6.7</c:v>
                </c:pt>
                <c:pt idx="1">
                  <c:v>-2.4</c:v>
                </c:pt>
                <c:pt idx="2">
                  <c:v>-6.8</c:v>
                </c:pt>
                <c:pt idx="3">
                  <c:v>26.1</c:v>
                </c:pt>
                <c:pt idx="4">
                  <c:v>-12.8</c:v>
                </c:pt>
                <c:pt idx="5">
                  <c:v>-33.9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-4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Casualties by month, YoY change (2022 vs 2021)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%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-28</c:v>
                </c:pt>
                <c:pt idx="1">
                  <c:v>1</c:v>
                </c:pt>
                <c:pt idx="2">
                  <c:v>-7</c:v>
                </c:pt>
                <c:pt idx="3">
                  <c:v>-9</c:v>
                </c:pt>
                <c:pt idx="4">
                  <c:v>-11</c:v>
                </c:pt>
                <c:pt idx="5">
                  <c:v>-8</c:v>
                </c:pt>
                <c:pt idx="6">
                  <c:v>-13</c:v>
                </c:pt>
                <c:pt idx="7">
                  <c:v>-11</c:v>
                </c:pt>
                <c:pt idx="8">
                  <c:v>-5</c:v>
                </c:pt>
                <c:pt idx="9">
                  <c:v>-9</c:v>
                </c:pt>
                <c:pt idx="10">
                  <c:v>-12</c:v>
                </c:pt>
                <c:pt idx="11">
                  <c:v>-29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35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Share of 2022 accidents vs fatal accidents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accidents</c:v>
                </c:pt>
              </c:strCache>
            </c:strRef>
          </c:tx>
          <c:spPr>
            <a:solidFill>
              <a:srgbClr val="9DBF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Urban</c:v>
                  </c:pt>
                  <c:pt idx="1">
                    <c:v>Rural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65.1</c:v>
                </c:pt>
                <c:pt idx="1">
                  <c:v>34.9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Fatal accidents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Urban</c:v>
                  </c:pt>
                  <c:pt idx="1">
                    <c:v>Rural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34.8</c:v>
                </c:pt>
                <c:pt idx="1">
                  <c:v>65.2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Fatal-accident rate (%) by speed limit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%</c:v>
                </c:pt>
              </c:strCache>
            </c:strRef>
          </c:tx>
          <c:spPr>
            <a:solidFill>
              <a:srgbClr val="3F6C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 mph</c:v>
                  </c:pt>
                  <c:pt idx="1">
                    <c:v>30 mph</c:v>
                  </c:pt>
                  <c:pt idx="2">
                    <c:v>40 mph</c:v>
                  </c:pt>
                  <c:pt idx="3">
                    <c:v>50 mph</c:v>
                  </c:pt>
                  <c:pt idx="4">
                    <c:v>60 mph</c:v>
                  </c:pt>
                  <c:pt idx="5">
                    <c:v>70 mph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0.29</c:v>
                </c:pt>
                <c:pt idx="1">
                  <c:v>0.53</c:v>
                </c:pt>
                <c:pt idx="2">
                  <c:v>1.28</c:v>
                </c:pt>
                <c:pt idx="3">
                  <c:v>1.97</c:v>
                </c:pt>
                <c:pt idx="4">
                  <c:v>2.65</c:v>
                </c:pt>
                <c:pt idx="5">
                  <c:v>2.27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  <c:min val="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Fatal-accident rate (%) by road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%</c:v>
                </c:pt>
              </c:strCache>
            </c:strRef>
          </c:tx>
          <c:spPr>
            <a:solidFill>
              <a:srgbClr val="3F6C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Single</c:v>
                  </c:pt>
                  <c:pt idx="1">
                    <c:v>Dual</c:v>
                  </c:pt>
                  <c:pt idx="2">
                    <c:v>Roundabout</c:v>
                  </c:pt>
                  <c:pt idx="3">
                    <c:v>One way</c:v>
                  </c:pt>
                  <c:pt idx="4">
                    <c:v>Slip road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1.05</c:v>
                </c:pt>
                <c:pt idx="1">
                  <c:v>1.69</c:v>
                </c:pt>
                <c:pt idx="2">
                  <c:v>0.28</c:v>
                </c:pt>
                <c:pt idx="3">
                  <c:v>0.41</c:v>
                </c:pt>
                <c:pt idx="4">
                  <c:v>0.46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Share of accidents vs share of fatal accidents (2022)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all accidents</c:v>
                </c:pt>
              </c:strCache>
            </c:strRef>
          </c:tx>
          <c:spPr>
            <a:solidFill>
              <a:srgbClr val="9DBF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darkness</c:v>
                  </c:pt>
                  <c:pt idx="1">
                    <c:v>Unlit darkness</c:v>
                  </c:pt>
                  <c:pt idx="2">
                    <c:v>22:00-05:59</c:v>
                  </c:pt>
                  <c:pt idx="3">
                    <c:v>Sat + Sun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25.4</c:v>
                </c:pt>
                <c:pt idx="1">
                  <c:v>5.1</c:v>
                </c:pt>
                <c:pt idx="2">
                  <c:v>10.1</c:v>
                </c:pt>
                <c:pt idx="3">
                  <c:v>24.3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fatal accidents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darkness</c:v>
                  </c:pt>
                  <c:pt idx="1">
                    <c:v>Unlit darkness</c:v>
                  </c:pt>
                  <c:pt idx="2">
                    <c:v>22:00-05:59</c:v>
                  </c:pt>
                  <c:pt idx="3">
                    <c:v>Sat + Sun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37.8</c:v>
                </c:pt>
                <c:pt idx="1">
                  <c:v>18.1</c:v>
                </c:pt>
                <c:pt idx="2">
                  <c:v>22.1</c:v>
                </c:pt>
                <c:pt idx="3">
                  <c:v>34.7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Casualties by weather, like-for-like YoY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%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+0&quot;%&quot;;-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FD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Snowing</c:v>
                  </c:pt>
                  <c:pt idx="1">
                    <c:v>Snowing + wind</c:v>
                  </c:pt>
                  <c:pt idx="2">
                    <c:v>Other</c:v>
                  </c:pt>
                  <c:pt idx="3">
                    <c:v>Raining</c:v>
                  </c:pt>
                  <c:pt idx="4">
                    <c:v>Fine</c:v>
                  </c:pt>
                  <c:pt idx="5">
                    <c:v>Fine + wind</c:v>
                  </c:pt>
                  <c:pt idx="6">
                    <c:v>Raining + wind</c:v>
                  </c:pt>
                  <c:pt idx="7">
                    <c:v>Fog or mist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</c:v>
                </c:pt>
                <c:pt idx="1">
                  <c:v>23</c:v>
                </c:pt>
                <c:pt idx="2">
                  <c:v>1</c:v>
                </c:pt>
                <c:pt idx="3">
                  <c:v>-2</c:v>
                </c:pt>
                <c:pt idx="4">
                  <c:v>-4</c:v>
                </c:pt>
                <c:pt idx="5">
                  <c:v>-45</c:v>
                </c:pt>
                <c:pt idx="6">
                  <c:v>-46</c:v>
                </c:pt>
                <c:pt idx="7">
                  <c:v>-74</c:v>
                </c:pt>
              </c:numCache>
            </c:numRef>
          </c:val>
        </c:ser>
        <c:dLbls>
          <c:numFmt formatCode="+0&quot;%&quot;;-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100"/>
        </c:scaling>
        <c:delete val="0"/>
        <c:axPos val="b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430"/>
                </a:solidFill>
                <a:latin typeface="Calibri"/>
              </a:rPr>
              <a:t>Fatal-accident rate (%) by junction detail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%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6C9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Not at junction</c:v>
                  </c:pt>
                  <c:pt idx="1">
                    <c:v>T-junction</c:v>
                  </c:pt>
                  <c:pt idx="2">
                    <c:v>Signalised</c:v>
                  </c:pt>
                  <c:pt idx="3">
                    <c:v>Roundabout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1.77</c:v>
                </c:pt>
                <c:pt idx="1">
                  <c:v>0.68</c:v>
                </c:pt>
                <c:pt idx="2">
                  <c:v>0.47</c:v>
                </c:pt>
                <c:pt idx="3">
                  <c:v>0.24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dashboard and the analysis report behind it. Everything here compares CY 2022 with PY 2021.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to remember. The headline fall is overstated by missing Scottish records, severity did improve, and the danger is concentrated in specific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model: CALENDER[Date] one-to-many to MAINDATA[Accident Date]. CY is the latest year in the calendar and PY the year before, so the measures roll forward on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Scottish police-force areas have 11,537 accidents in 2021 but only 292 in 2022. They account for 14,599 of the 26,409 fewer casualties. The fatal-accident rate still improved, so the safety gain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Cars are 79.6% of casualties and drove 82.8% of the fall. Bus and coach casualties rose 5.6% as shown and 26.1% like-for-like (5,210 to 6,570). Caution: each accident carries one Vehicle_Type, and Bike is almost all motorcycles.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January (-28%) and December (-29%) 2022 are not explained by Scotland (still -23% and -24% like-for-like). December 2022 averages about 310 accidents a day against 454 in November. Confirm with the data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Urban carries 61.9% of casualties, rural 38.1%. But rural roads hold 34.9% of accidents and 65.2% of fatal accidents: a 2.00% fatal rate against 0.57% urban, 3.5 times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mph roads are 14.4% of accidents but 35.4% of fatal accidents (2.65% fatal rate, 5x the 30 mph rate). Rural roads with a 60 or 70 mph limit are 20.3% of accidents but 49.6% of fatal accidents. No traffic-volume data exists to compute risk per mile.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Unlit darkness has a 3.83% fatal rate, 4.3 times daylight. Lit night driving (1.06%) is barely riskier than daylight. Fatal rate is lowest at 08:00 (0.57%) and highest at 02:00 (3.52%). Friday is busiest (23,863 accidents); Sunday is quietest but most severe (1.76% fatal rate).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casualties happen in benign conditions (67.4% dry, 80.0% fine weather). Frost/ice casualties rose 29% (42% like-for-like) and snow 65% (89%), while wet-surface casualties fell 22%. Adverse conditions did not raise severity (fatal rate 0.68% on snow vs 1.08% dry), consistent with drivers slowing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 five casualties (40.0%) happen away from junctions. Give way or uncontrolled junctions hold 48.3% of casualties. The Metropolitan Police area records 14.6% of casualties (28,557) but only a 0.52% fatal rate. Highest-rate authorities have small counts (10 to 15 fatal accidents).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fix is the Scottish coverage gap: resolve it before publishing any year-on-year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has no contributory-factor field, so check causes against other sources before finalising night and weekend messaging.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targeted-action message and the four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when and under what conditions people are being hurt on the road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findings  |  Current Year 2022 vs Previous Year 2021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MAINDATA.xlsx and CALENDER.xlsx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Casualties fell, but the picture is more nuanced than the headline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-11.9%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-5.7%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8998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Casualties: dashboard vs like-for-like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234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6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F6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1.07%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18998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Fatal-accident rate, 2021 to 2022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234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18998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fatal accidents happen on rural roads (35% of all accidents)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0" y="12344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3.83%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18998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rate on unlit dark roads, 4.3x daylight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3832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and commuter-hour roads generate the volume; </a:t>
            </a:r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rural, high-speed, dark and weekend roads generate the deaths.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Targeted action there will do more than a blanket campaign.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and the data behind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mnt/user-data/uploads/Screenshot_2026-09-20_0041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1280160"/>
            <a:ext cx="4846320" cy="27206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280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MAINDATA: 307,973 accidents x 24 columns, 1 Jan 2021 to 31 Dec 2022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CALENDER: 730 daily rows; defines CY (2022) and PY (2021)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model: one date table to one fact table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CY/PY measures, no hard-coded years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 cards, vehicle cards, area, column and donut charts, two slicers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1105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and chart was recomputed from the raw data and matches.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half of the headline drop is a data-coverage effect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035040" y="11887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72200" y="1280160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176707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26,409 fewer casualties come from missing Scottish records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504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72200" y="2468880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11,537 to 292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295579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from eight Scottish forces, 2021 to 2022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72200" y="3657600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1.45% to 1.07%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414451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fatal-accident rate: the safety gain is real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5720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Casualties in fatal-severity accidents, not only deaths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and coach is the only vehicle group getting worse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1188720"/>
            <a:ext cx="283464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8932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+26.1%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5989320" y="17419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and coach casualties, like-for-like (5,210 to 6,570)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852160" y="2331720"/>
            <a:ext cx="283464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8932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79.6%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8849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casualties are in cars; 82.8% of the fall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52160" y="347472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89320" y="35204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only: each accident credits casualties to one vehicle type, and "Bike" is almost all motorcycles (26 pedal-cycle records).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peaks in Oct-Nov; Jan and Dec fell furthest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46520" y="1280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-28% / -29%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446520" y="17419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and December 2022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4231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-23% and -24% like-for-like, so Scotland does not explain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2022: about 310 accidents a day vs 454 in November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confirming with the data owner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is a volume problem; rural is a severity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118872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9788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2.00%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5897880" y="17419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fatal-accident rate on rural roads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760720" y="233172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89788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6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0.57%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28849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fatal-accident rate on urban roads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60720" y="347472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97880" y="3566160"/>
            <a:ext cx="2651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3.5x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5897880" y="410337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is 3.5 times as deadly per accident; urban still has 61.9% of casualties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roads and dual carriageways are most severe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05156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37490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94360" y="3840480"/>
            <a:ext cx="3749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14.4% to 35.4%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594360" y="422681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mph roads: share of accidents vs share of fatal accidents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663440" y="37490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800600" y="3840480"/>
            <a:ext cx="3749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20.3% to 49.6%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422681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60/70 mph roads: accidents vs fatal accidents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roads, late nights and weekends are deadlier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035040" y="11887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7220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3.83%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rate on unlit dark roads (4.3x daylight)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5040" y="22402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722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3.52% vs 0.57%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rate at 02:00 vs 08:00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32918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72200" y="3383280"/>
            <a:ext cx="23774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6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Sunday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402107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quietest day but most severe: 1.76% fatal rate. Friday is busiest (23,863)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Wintry conditions rose; wet and foggy fell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49377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1500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+89%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715000" y="17419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surface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223760" y="1188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6092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+42%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17419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 or ice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77840" y="2331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1500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6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-15%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0" y="28849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or damp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223760" y="23317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6092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6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-6%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28849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577840" y="34747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1500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did not rise: 0.68% fatal rate on snow vs 1.08% on dry roads, consistent with drivers slowing down.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Accidents away from junctions are the most severe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45720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212080" y="118872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349240" y="1280160"/>
            <a:ext cx="1371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40.0%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349240" y="186766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casualties are away from junctions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040880" y="118872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1280160"/>
            <a:ext cx="1371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48.3%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186766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give-way or uncontrolled junctions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12080" y="26060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949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30175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Police: 14.6% of casualties (28,557) but only a 0.52% fatal rate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fatal rates are rural or semi-rural: South Oxfordshire 3.80%, North Kesteven 3.71%, Cherwell 3.37%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small (10 to 15 fatal accidents each)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review: fix these before publishing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108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Scottish coverage break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11,537 accidents in 2021 vs 292 in 2022 from eight forces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the missing 2022 data, or add a Police_Force slicer and a coverage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"Fatal Casualties" 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all casualties in fatal accidents (2,855), not deaths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it; add a fatal-accident-rate KPI (1.07%)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vehicle per accident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Casualties credited to a single Vehicle_Type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vehicle comparisons as indicative; add a vehicle-level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"Others." junction 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 of casualties; 99.6% are "Not at junction"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with "Not at junction or within 20 metres"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field names, axis starts near 10K, CY/PY vs 2021/2022 labels, unlabelled donut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titles, zero-based axis, consistent CY/PY labels, data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time of day, day of week, speed limit, severity split or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hour x weekday heatmap, speed-limit fatal rate and a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no traffic-volume (exposure) data, so rates are per accident, not per mile; only two years of history.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Recommendations: target where the deaths are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CY 2022 vs PY 2021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612648"/>
          </a:xfrm>
          <a:prstGeom prst="roundRect">
            <a:avLst>
              <a:gd name="adj" fmla="val 1492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216152"/>
            <a:ext cx="374904" cy="37490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1615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143000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60/70 mph roads first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14300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 of fatal accidents in one-fifth of accidents: speed management, average-speed cameras, junction and bend treatments.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8229600" cy="612648"/>
          </a:xfrm>
          <a:prstGeom prst="roundRect">
            <a:avLst>
              <a:gd name="adj" fmla="val 1492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920240"/>
            <a:ext cx="374904" cy="37490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192024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847088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unlit rural roads at night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1847088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reflective studs and signage, or lower limits where lighting is not feasible.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505456"/>
            <a:ext cx="8229600" cy="612648"/>
          </a:xfrm>
          <a:prstGeom prst="roundRect">
            <a:avLst>
              <a:gd name="adj" fmla="val 1492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624328"/>
            <a:ext cx="374904" cy="37490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551176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22:00-05:59 and weekends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977640" y="2551176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+ Sun are 24% of accidents but 35% of fatal ones. Check causes against other sources first.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209544"/>
            <a:ext cx="8229600" cy="612648"/>
          </a:xfrm>
          <a:prstGeom prst="roundRect">
            <a:avLst>
              <a:gd name="adj" fmla="val 1492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3328416"/>
            <a:ext cx="374904" cy="37490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32841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255264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winter; review bus and coach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977640" y="3255264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Gritting and alerts; bus and coach is the only group with a rising trend (+26.1%).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913632"/>
            <a:ext cx="8229600" cy="612648"/>
          </a:xfrm>
          <a:prstGeom prst="roundRect">
            <a:avLst>
              <a:gd name="adj" fmla="val 1492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4032504"/>
            <a:ext cx="374904" cy="37490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403250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959352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analytics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977640" y="3959352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Scotland gap before YoY claims; add contributory factors and traffic exposure; extend beyond two years.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and commuter-hour roads generate the volume; rural, high-speed, dark and weekend roads generate the deaths.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-5.7%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casualty fall (not -11.9%)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3.5x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fatal rate vs urban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4.3x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unlit night fatal rate vs daylight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92608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+26.1%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703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and coach casualties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Analysis</dc:title>
  <dc:subject>PptxGenJS Presentation</dc:subject>
  <dc:creator>PptxGenJS</dc:creator>
  <cp:lastModifiedBy>PptxGenJS</cp:lastModifiedBy>
  <cp:revision>1</cp:revision>
  <dcterms:created xsi:type="dcterms:W3CDTF">2026-09-20T06:03:03Z</dcterms:created>
  <dcterms:modified xsi:type="dcterms:W3CDTF">2026-09-20T06:03:03Z</dcterms:modified>
</cp:coreProperties>
</file>